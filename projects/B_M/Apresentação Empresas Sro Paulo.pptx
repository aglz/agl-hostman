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100888" cy="10233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FB72B-AA41-424B-89D5-6782EBE22464}" v="4" dt="2026-05-09T14:00:07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hur Hilton" userId="4e878f5392ca9221" providerId="LiveId" clId="{C4E1B2C5-C699-4002-B7C5-5DFED046F8AA}"/>
    <pc:docChg chg="undo custSel modSld">
      <pc:chgData name="Benhur Hilton" userId="4e878f5392ca9221" providerId="LiveId" clId="{C4E1B2C5-C699-4002-B7C5-5DFED046F8AA}" dt="2026-05-09T14:07:13.858" v="147" actId="20577"/>
      <pc:docMkLst>
        <pc:docMk/>
      </pc:docMkLst>
      <pc:sldChg chg="addSp delSp modSp mod">
        <pc:chgData name="Benhur Hilton" userId="4e878f5392ca9221" providerId="LiveId" clId="{C4E1B2C5-C699-4002-B7C5-5DFED046F8AA}" dt="2026-05-09T14:02:10.660" v="119"/>
        <pc:sldMkLst>
          <pc:docMk/>
          <pc:sldMk cId="0" sldId="257"/>
        </pc:sldMkLst>
        <pc:spChg chg="mod">
          <ac:chgData name="Benhur Hilton" userId="4e878f5392ca9221" providerId="LiveId" clId="{C4E1B2C5-C699-4002-B7C5-5DFED046F8AA}" dt="2026-05-09T14:00:29.471" v="112" actId="1076"/>
          <ac:spMkLst>
            <pc:docMk/>
            <pc:sldMk cId="0" sldId="257"/>
            <ac:spMk id="10" creationId="{00000000-0000-0000-0000-000000000000}"/>
          </ac:spMkLst>
        </pc:spChg>
        <pc:spChg chg="add del mod">
          <ac:chgData name="Benhur Hilton" userId="4e878f5392ca9221" providerId="LiveId" clId="{C4E1B2C5-C699-4002-B7C5-5DFED046F8AA}" dt="2026-05-09T14:00:49.306" v="113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1:32.554" v="11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1:55.002" v="11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2:10.660" v="119"/>
          <ac:spMkLst>
            <pc:docMk/>
            <pc:sldMk cId="0" sldId="257"/>
            <ac:spMk id="24" creationId="{00000000-0000-0000-0000-000000000000}"/>
          </ac:spMkLst>
        </pc:spChg>
        <pc:spChg chg="add">
          <ac:chgData name="Benhur Hilton" userId="4e878f5392ca9221" providerId="LiveId" clId="{C4E1B2C5-C699-4002-B7C5-5DFED046F8AA}" dt="2026-05-09T13:59:58.457" v="104"/>
          <ac:spMkLst>
            <pc:docMk/>
            <pc:sldMk cId="0" sldId="257"/>
            <ac:spMk id="25" creationId="{33E979B8-BEF3-DB79-FA88-A645E4DE2D52}"/>
          </ac:spMkLst>
        </pc:spChg>
        <pc:spChg chg="add mod">
          <ac:chgData name="Benhur Hilton" userId="4e878f5392ca9221" providerId="LiveId" clId="{C4E1B2C5-C699-4002-B7C5-5DFED046F8AA}" dt="2026-05-09T14:00:06.989" v="109"/>
          <ac:spMkLst>
            <pc:docMk/>
            <pc:sldMk cId="0" sldId="257"/>
            <ac:spMk id="26" creationId="{E018BBE9-249C-8771-10CC-CE563CE31BE2}"/>
          </ac:spMkLst>
        </pc:spChg>
      </pc:sldChg>
      <pc:sldChg chg="modSp mod">
        <pc:chgData name="Benhur Hilton" userId="4e878f5392ca9221" providerId="LiveId" clId="{C4E1B2C5-C699-4002-B7C5-5DFED046F8AA}" dt="2026-05-09T14:03:59.410" v="125"/>
        <pc:sldMkLst>
          <pc:docMk/>
          <pc:sldMk cId="0" sldId="258"/>
        </pc:sldMkLst>
        <pc:spChg chg="mod">
          <ac:chgData name="Benhur Hilton" userId="4e878f5392ca9221" providerId="LiveId" clId="{C4E1B2C5-C699-4002-B7C5-5DFED046F8AA}" dt="2026-05-09T14:03:25.723" v="12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3:41.889" v="12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3:59.410" v="125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Benhur Hilton" userId="4e878f5392ca9221" providerId="LiveId" clId="{C4E1B2C5-C699-4002-B7C5-5DFED046F8AA}" dt="2026-05-09T14:05:32.017" v="135" actId="255"/>
        <pc:sldMkLst>
          <pc:docMk/>
          <pc:sldMk cId="0" sldId="265"/>
        </pc:sldMkLst>
        <pc:spChg chg="mod">
          <ac:chgData name="Benhur Hilton" userId="4e878f5392ca9221" providerId="LiveId" clId="{C4E1B2C5-C699-4002-B7C5-5DFED046F8AA}" dt="2026-05-09T14:05:32.017" v="135" actId="255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Benhur Hilton" userId="4e878f5392ca9221" providerId="LiveId" clId="{C4E1B2C5-C699-4002-B7C5-5DFED046F8AA}" dt="2026-05-09T14:07:13.858" v="147" actId="20577"/>
        <pc:sldMkLst>
          <pc:docMk/>
          <pc:sldMk cId="0" sldId="266"/>
        </pc:sldMkLst>
        <pc:spChg chg="mod">
          <ac:chgData name="Benhur Hilton" userId="4e878f5392ca9221" providerId="LiveId" clId="{C4E1B2C5-C699-4002-B7C5-5DFED046F8AA}" dt="2026-05-09T14:06:25.212" v="140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7:08.990" v="146" actId="2057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Benhur Hilton" userId="4e878f5392ca9221" providerId="LiveId" clId="{C4E1B2C5-C699-4002-B7C5-5DFED046F8AA}" dt="2026-05-09T14:07:13.858" v="147" actId="20577"/>
          <ac:spMkLst>
            <pc:docMk/>
            <pc:sldMk cId="0" sldId="266"/>
            <ac:spMk id="2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4DBC0-92F6-4F38-A664-1687DAF75DB4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5688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4425"/>
            <a:ext cx="5681662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2725" y="9720263"/>
            <a:ext cx="3076575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632C1-5671-45E1-94B1-925DA8AD3B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5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632C1-5671-45E1-94B1-925DA8AD3B4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238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632C1-5671-45E1-94B1-925DA8AD3B4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9447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967" y="1341120"/>
            <a:ext cx="121920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09344"/>
            <a:ext cx="121920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47088"/>
            <a:ext cx="121920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99" y="2106168"/>
            <a:ext cx="121920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21461" y="0"/>
            <a:ext cx="9753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384" y="1267968"/>
            <a:ext cx="146304" cy="1463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021312" y="1267968"/>
            <a:ext cx="146304" cy="1463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" y="5425440"/>
            <a:ext cx="121920" cy="121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33504" y="5425440"/>
            <a:ext cx="121920" cy="121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1_Image 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774" y="156793"/>
            <a:ext cx="5006809" cy="411990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828800" y="4535424"/>
            <a:ext cx="8534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730496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0EDE6"/>
                </a:solidFill>
                <a:latin typeface="Open Sans"/>
              </a:rPr>
              <a:t>Assistência</a:t>
            </a:r>
            <a:r>
              <a:rPr sz="2000" b="1" i="0" dirty="0">
                <a:solidFill>
                  <a:srgbClr val="F0EDE6"/>
                </a:solidFill>
                <a:latin typeface="Open Sans"/>
              </a:rPr>
              <a:t> Técnica Premium </a:t>
            </a:r>
            <a:r>
              <a:rPr sz="2000" b="1" i="0" dirty="0" err="1">
                <a:solidFill>
                  <a:srgbClr val="F0EDE6"/>
                </a:solidFill>
                <a:latin typeface="Open Sans"/>
              </a:rPr>
              <a:t>em</a:t>
            </a:r>
            <a:r>
              <a:rPr sz="2000" b="1" i="0" dirty="0">
                <a:solidFill>
                  <a:srgbClr val="F0EDE6"/>
                </a:solidFill>
                <a:latin typeface="Open Sans"/>
              </a:rPr>
              <a:t> Alphaville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5522976"/>
            <a:ext cx="1584960" cy="5852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6553" y="5648050"/>
            <a:ext cx="1584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0A0A0F"/>
                </a:solidFill>
                <a:latin typeface="Open Sans"/>
              </a:rPr>
              <a:t>Desde</a:t>
            </a:r>
            <a:r>
              <a:rPr sz="1600" b="1" i="0" dirty="0">
                <a:solidFill>
                  <a:srgbClr val="0A0A0F"/>
                </a:solidFill>
                <a:latin typeface="Open Sans"/>
              </a:rPr>
              <a:t>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303264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AAA8A0"/>
                </a:solidFill>
                <a:latin typeface="Open Sans"/>
              </a:rPr>
              <a:t>P</a:t>
            </a:r>
            <a:r>
              <a:rPr lang="pt-BR" sz="1100" b="0" i="0" dirty="0">
                <a:solidFill>
                  <a:srgbClr val="AAA8A0"/>
                </a:solidFill>
                <a:latin typeface="Open Sans"/>
              </a:rPr>
              <a:t>r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a</a:t>
            </a:r>
            <a:r>
              <a:rPr lang="pt-BR" sz="1100" b="0" i="0" dirty="0">
                <a:solidFill>
                  <a:srgbClr val="AAA8A0"/>
                </a:solidFill>
                <a:latin typeface="Open Sans"/>
              </a:rPr>
              <a:t>ç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a das Pa</a:t>
            </a:r>
            <a:r>
              <a:rPr lang="pt-BR" sz="1100" b="0" i="0" dirty="0" err="1">
                <a:solidFill>
                  <a:srgbClr val="AAA8A0"/>
                </a:solidFill>
                <a:latin typeface="Open Sans"/>
              </a:rPr>
              <a:t>ine</a:t>
            </a:r>
            <a:r>
              <a:rPr sz="1100" b="0" i="0" dirty="0" err="1">
                <a:solidFill>
                  <a:srgbClr val="AAA8A0"/>
                </a:solidFill>
                <a:latin typeface="Open Sans"/>
              </a:rPr>
              <a:t>iras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, </a:t>
            </a:r>
            <a:r>
              <a:rPr lang="pt-BR" sz="1100" dirty="0">
                <a:solidFill>
                  <a:srgbClr val="AAA8A0"/>
                </a:solidFill>
                <a:latin typeface="Open Sans"/>
              </a:rPr>
              <a:t>66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 — Sala A  |</a:t>
            </a:r>
            <a:r>
              <a:rPr lang="pt-BR" sz="11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lang="pt-BR" sz="1100" b="0" i="0">
                <a:solidFill>
                  <a:srgbClr val="AAA8A0"/>
                </a:solidFill>
                <a:latin typeface="Open Sans"/>
              </a:rPr>
              <a:t>Centro Comercial de</a:t>
            </a:r>
            <a:r>
              <a:rPr sz="1100" b="0" i="0">
                <a:solidFill>
                  <a:srgbClr val="AAA8A0"/>
                </a:solidFill>
                <a:latin typeface="Open Sans"/>
              </a:rPr>
              <a:t>  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Alphaville, </a:t>
            </a:r>
            <a:r>
              <a:rPr sz="1100" b="0" i="0" dirty="0" err="1">
                <a:solidFill>
                  <a:srgbClr val="AAA8A0"/>
                </a:solidFill>
                <a:latin typeface="Open Sans"/>
              </a:rPr>
              <a:t>Barueri</a:t>
            </a:r>
            <a:r>
              <a:rPr sz="1100" b="0" i="0" dirty="0">
                <a:solidFill>
                  <a:srgbClr val="AAA8A0"/>
                </a:solidFill>
                <a:latin typeface="Open Sans"/>
              </a:rPr>
              <a:t>/SP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Nossa História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5632" y="1402080"/>
            <a:ext cx="48768" cy="4693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480" y="1548384"/>
            <a:ext cx="170688" cy="1706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9200" y="1519051"/>
            <a:ext cx="103632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Open Sans"/>
              </a:rPr>
              <a:t>Novembro /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1889760"/>
            <a:ext cx="10363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0" i="0" dirty="0">
                <a:solidFill>
                  <a:srgbClr val="F0EDE6"/>
                </a:solidFill>
                <a:latin typeface="Open Sans"/>
              </a:rPr>
              <a:t>Benhur e Marcela identificaram uma lacuna relevante no mercado: a ausência de serviços de assistência técnica premium direcionados às empresas da região de Alphaville.</a:t>
            </a:r>
            <a:endParaRPr sz="13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2480" y="2889504"/>
            <a:ext cx="170688" cy="1706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9200" y="2860171"/>
            <a:ext cx="103632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Open Sans"/>
              </a:rPr>
              <a:t>O Problema Identificado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230880"/>
            <a:ext cx="10363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0" i="0">
                <a:solidFill>
                  <a:srgbClr val="F0EDE6"/>
                </a:solidFill>
                <a:latin typeface="Open Sans"/>
              </a:rPr>
              <a:t>Organizações locais enfrentavam dificuldades para acessar serviços confiáveis e de alta qualidade para suporte a dispositivos corporativos, incluindo celulares, notebooks e periféricos.</a:t>
            </a:r>
            <a:endParaRPr sz="13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2480" y="4133088"/>
            <a:ext cx="170688" cy="1706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19200" y="4103755"/>
            <a:ext cx="103632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Open Sans"/>
              </a:rPr>
              <a:t>A Solução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474464"/>
            <a:ext cx="10363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0" i="0">
                <a:solidFill>
                  <a:srgbClr val="F0EDE6"/>
                </a:solidFill>
                <a:latin typeface="Open Sans"/>
              </a:rPr>
              <a:t>A iniciativa surgiu a partir dessa necessidade concreta, com o objetivo de estruturar uma operação diferenciada, baseada em transparência, excelência técnica, consultoria especializada e utilização de peças homologadas.</a:t>
            </a:r>
            <a:endParaRPr sz="13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92480" y="5291328"/>
            <a:ext cx="170688" cy="1706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19200" y="5261995"/>
            <a:ext cx="103632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Open Sans"/>
              </a:rPr>
              <a:t>Hoje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5632704"/>
            <a:ext cx="103632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0" i="0">
                <a:solidFill>
                  <a:srgbClr val="F0EDE6"/>
                </a:solidFill>
                <a:latin typeface="Open Sans"/>
              </a:rPr>
              <a:t>Atualmente, Benhur e Marcela lideram a empresa com foco em excelência operacional, transparência e relacionamento de longo prazo, atendendo clientes corporativos por meio de uma plataforma proprietária de IA para gestão de TI, proporcionando maior eficiência, controle e valor estratégico.</a:t>
            </a:r>
            <a:endParaRPr sz="1300" b="0" i="0" dirty="0">
              <a:solidFill>
                <a:srgbClr val="F0EDE6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Quem Somos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6"/>
                </a:solidFill>
                <a:latin typeface="Open Sans"/>
              </a:rPr>
              <a:t>A B&amp;M Smart TECH é um centro técnico especializado em smartphones iOS e Android, MacBook, Notebooks e periféricos — oferecendo assistência premium com plataforma de IA própria para gestão de TI empresarial em Alphaville e região.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53056"/>
            <a:ext cx="3535680" cy="3108960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2353056"/>
            <a:ext cx="3535680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5904" y="2548256"/>
            <a:ext cx="3243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Open Sans"/>
              </a:rPr>
              <a:t>MISSÃO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21152"/>
            <a:ext cx="29260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0288" y="3279648"/>
            <a:ext cx="3194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Agregar valor aos negócios dos clientes, oferecendo soluções técnicas em tecnologia com eficiência, transparência e alto padrão de qualidade.</a:t>
            </a:r>
            <a:endParaRPr sz="12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58640" y="2353056"/>
            <a:ext cx="3535680" cy="3108960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58640" y="2353056"/>
            <a:ext cx="3535680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4944" y="2548256"/>
            <a:ext cx="3243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Open Sans"/>
              </a:rPr>
              <a:t>VISÃO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21152"/>
            <a:ext cx="29260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9328" y="3279648"/>
            <a:ext cx="31943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Consolidar-se como referência em assistência tecnológica corporativa, destacando-se pela confiabilidade, agilidade e busca permanente por excelência.</a:t>
            </a:r>
            <a:endParaRPr sz="12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7680" y="2353056"/>
            <a:ext cx="3535680" cy="3108960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07680" y="2353056"/>
            <a:ext cx="3535680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3984" y="2548256"/>
            <a:ext cx="3243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Open Sans"/>
              </a:rPr>
              <a:t>VALORES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121152"/>
            <a:ext cx="29260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8368" y="3279648"/>
            <a:ext cx="3194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• Integridade e transparência</a:t>
            </a:r>
          </a:p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• Respeito nas relações</a:t>
            </a:r>
          </a:p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• Excelência técnica</a:t>
            </a:r>
          </a:p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• Atuação proativa e consultiva</a:t>
            </a:r>
          </a:p>
          <a:p>
            <a:pPr algn="l"/>
            <a:r>
              <a:rPr lang="pt-BR" sz="1200" b="0" i="0">
                <a:solidFill>
                  <a:srgbClr val="F0EDE6"/>
                </a:solidFill>
                <a:latin typeface="Open Sans"/>
              </a:rPr>
              <a:t>• Comprometimento com os resultados do cliente</a:t>
            </a:r>
            <a:endParaRPr sz="1200" b="0" i="0" dirty="0">
              <a:solidFill>
                <a:srgbClr val="F0EDE6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Nossos Diferenciais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1487424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1487424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9056" y="1804416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056" y="1804416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8112" y="1609344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Leva-e-Traz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8112" y="2048256"/>
            <a:ext cx="4047744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Coleta e entrega do dispositivo — sem deslocamento para o cliente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960" y="1487424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6960" y="1487424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76416" y="1804416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6416" y="1804416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1609344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Peças Homologadas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048256"/>
            <a:ext cx="4047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AAA8A0"/>
                </a:solidFill>
                <a:latin typeface="Open Sans"/>
              </a:rPr>
              <a:t>Somente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componentes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lang="pt-BR" sz="1200" b="0" i="0" dirty="0">
                <a:solidFill>
                  <a:srgbClr val="AAA8A0"/>
                </a:solidFill>
                <a:latin typeface="Open Sans"/>
              </a:rPr>
              <a:t>e peças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certificad</a:t>
            </a:r>
            <a:r>
              <a:rPr lang="pt-BR" sz="1200" b="0" i="0" dirty="0">
                <a:solidFill>
                  <a:srgbClr val="AAA8A0"/>
                </a:solidFill>
                <a:latin typeface="Open Sans"/>
              </a:rPr>
              <a:t>a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s</a:t>
            </a:r>
            <a:r>
              <a:rPr lang="pt-BR" sz="1200" b="0" i="0" dirty="0">
                <a:solidFill>
                  <a:srgbClr val="AAA8A0"/>
                </a:solidFill>
                <a:latin typeface="Open Sans"/>
              </a:rPr>
              <a:t> de linha prime</a:t>
            </a:r>
            <a:r>
              <a:rPr lang="pt-BR" sz="1200" dirty="0">
                <a:solidFill>
                  <a:srgbClr val="AAA8A0"/>
                </a:solidFill>
                <a:latin typeface="Open Sans"/>
              </a:rPr>
              <a:t>.</a:t>
            </a:r>
            <a:endParaRPr sz="1200" b="0" i="0" dirty="0">
              <a:solidFill>
                <a:srgbClr val="AAA8A0"/>
              </a:solidFill>
              <a:latin typeface="Open Sa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9600" y="3096768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600" y="3096768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9056" y="3413760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056" y="3413760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8112" y="3218688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Assessoria Técnica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8112" y="3657600"/>
            <a:ext cx="4047744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AAA8A0"/>
                </a:solidFill>
                <a:latin typeface="Open Sans"/>
              </a:rPr>
              <a:t>Orientação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especializada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inclusa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em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cada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atendimento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,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sem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</a:t>
            </a:r>
            <a:r>
              <a:rPr sz="1200" b="0" i="0" dirty="0" err="1">
                <a:solidFill>
                  <a:srgbClr val="AAA8A0"/>
                </a:solidFill>
                <a:latin typeface="Open Sans"/>
              </a:rPr>
              <a:t>custo</a:t>
            </a:r>
            <a:r>
              <a:rPr sz="1200" b="0" i="0" dirty="0">
                <a:solidFill>
                  <a:srgbClr val="AAA8A0"/>
                </a:solidFill>
                <a:latin typeface="Open Sans"/>
              </a:rPr>
              <a:t> extra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960" y="3096768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56960" y="3096768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76416" y="3413760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6416" y="3413760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3218688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Garantia de 90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657600"/>
            <a:ext cx="4047744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Todo serviço realizado conta com garantia formal de 90 dias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4706112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9600" y="4706112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9056" y="5023104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9056" y="5023104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8112" y="4828032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Técnicos Certificados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8112" y="5266944"/>
            <a:ext cx="4047744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Equipe com formação específica em iOS, Android, MacBook e Notebooks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6960" y="4706112"/>
            <a:ext cx="5242560" cy="1341120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56960" y="4706112"/>
            <a:ext cx="73152" cy="1341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76416" y="5023104"/>
            <a:ext cx="70713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6416" y="5023104"/>
            <a:ext cx="707136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F"/>
                </a:solidFill>
                <a:latin typeface="Open Sans"/>
              </a:rPr>
              <a:t>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4828032"/>
            <a:ext cx="4047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Atendimento Empresarial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5266944"/>
            <a:ext cx="4047744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Suporte dedicado para frotas corporativas com SLA definido</a:t>
            </a:r>
          </a:p>
        </p:txBody>
      </p:sp>
      <p:sp>
        <p:nvSpPr>
          <p:cNvPr id="50" name="Rectangle 8">
            <a:extLst>
              <a:ext uri="{FF2B5EF4-FFF2-40B4-BE49-F238E27FC236}">
                <a16:creationId xmlns:a16="http://schemas.microsoft.com/office/drawing/2014/main" id="{BA2A0CD2-143E-EF3D-7A37-B6B4C8CEBD8B}"/>
              </a:ext>
            </a:extLst>
          </p:cNvPr>
          <p:cNvSpPr/>
          <p:nvPr/>
        </p:nvSpPr>
        <p:spPr>
          <a:xfrm>
            <a:off x="829056" y="6096001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3435" y="573623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Serviços — Dispositivos Móveis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16736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84C"/>
                </a:solidFill>
                <a:latin typeface="Open Sans"/>
              </a:rPr>
              <a:t>Celulares Android / iOS  •  Tablets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865376"/>
            <a:ext cx="5242560" cy="4355109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865376"/>
            <a:ext cx="89334" cy="435510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600" y="2048256"/>
            <a:ext cx="4909227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Diagnóstico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preciso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Troca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tela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(LCD e AMOLED)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Troca de vidro</a:t>
            </a: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Troca de tampa traseira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Troca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bateria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Troca de carcaça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Reparo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placa-mãe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Swap em placa</a:t>
            </a: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Reparos em componentes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Conector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carga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Câmera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frontal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traseira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Botões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sensores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Carcaça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chassi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Alto-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falante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microfone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Limpeza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manutenção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preventiva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lang="pt-BR" sz="1200">
                <a:solidFill>
                  <a:srgbClr val="F0EDE6"/>
                </a:solidFill>
                <a:latin typeface="Open Sans"/>
              </a:rPr>
              <a:t>Banho químico (Desoxidação)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endParaRPr sz="120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78880" y="1865376"/>
            <a:ext cx="5242560" cy="4355109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880" y="1865376"/>
            <a:ext cx="73152" cy="435510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2880" y="2048256"/>
            <a:ext cx="4909227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Atualização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software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Transferência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dados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iPhone (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todos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os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modelos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Samsung Galaxy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Xiaomi / Motorola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iPad e iPod Touch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Tablets Android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Apple Watch e Smartwatches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Atendimento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B2B com NF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472CDBB3-E4CC-50CC-5410-4A7CDFEBC8EA}"/>
              </a:ext>
            </a:extLst>
          </p:cNvPr>
          <p:cNvSpPr/>
          <p:nvPr/>
        </p:nvSpPr>
        <p:spPr>
          <a:xfrm>
            <a:off x="853600" y="6342405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Serviços — Computadores e Periféricos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16736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9A84C"/>
                </a:solidFill>
                <a:latin typeface="Open Sans"/>
              </a:rPr>
              <a:t>MacBook  •  Notebook  •  iPad  •  iMac  •  PC Gamer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865376"/>
            <a:ext cx="5242560" cy="3938013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865376"/>
            <a:ext cx="45719" cy="393801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600" y="2048256"/>
            <a:ext cx="4909227" cy="301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Diagnóstico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preciso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Troca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tela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(LED e Retina)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Upgrade de SSD e RAM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Reparo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placa-mãe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Teclado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trackpad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Substituição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bateria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Conector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MagSafe / USB-C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Limpeza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lang="pt-BR" sz="1200" dirty="0">
                <a:solidFill>
                  <a:srgbClr val="F0EDE6"/>
                </a:solidFill>
                <a:latin typeface="Open Sans"/>
              </a:rPr>
              <a:t>preventiva 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e pasta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térmica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Formatação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migração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dados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 Reparo de dobradiça e carcaça em Notebook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Assessoria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técnica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inclusa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endParaRPr sz="120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78880" y="1865375"/>
            <a:ext cx="5242560" cy="3938013"/>
          </a:xfrm>
          <a:prstGeom prst="rect">
            <a:avLst/>
          </a:prstGeom>
          <a:solidFill>
            <a:srgbClr val="12121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880" y="1865376"/>
            <a:ext cx="60962" cy="393801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2880" y="2048256"/>
            <a:ext cx="4909227" cy="276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Reparo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em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conectores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Reparos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em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componentes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Formatação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e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reinstalação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Atualização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software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Instalação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de Windows</a:t>
            </a:r>
            <a:r>
              <a:rPr lang="pt-BR" sz="1200" dirty="0">
                <a:solidFill>
                  <a:srgbClr val="F0EDE6"/>
                </a:solidFill>
                <a:latin typeface="Open Sans"/>
              </a:rPr>
              <a:t>/Programas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Reparo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em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 BIOS</a:t>
            </a:r>
            <a:endParaRPr lang="pt-BR"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lang="pt-BR" sz="1200" dirty="0">
                <a:solidFill>
                  <a:srgbClr val="F0EDE6"/>
                </a:solidFill>
                <a:latin typeface="Open Sans"/>
              </a:rPr>
              <a:t>▸ Otimização de sistema</a:t>
            </a:r>
            <a:endParaRPr sz="1200" dirty="0">
              <a:solidFill>
                <a:srgbClr val="F0EDE6"/>
              </a:solidFill>
              <a:latin typeface="Open San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MacBook (Air, Pro, </a:t>
            </a:r>
            <a:r>
              <a:rPr sz="1200" dirty="0" err="1">
                <a:solidFill>
                  <a:srgbClr val="F0EDE6"/>
                </a:solidFill>
                <a:latin typeface="Open Sans"/>
              </a:rPr>
              <a:t>todos</a:t>
            </a:r>
            <a:r>
              <a:rPr sz="1200" dirty="0">
                <a:solidFill>
                  <a:srgbClr val="F0EDE6"/>
                </a:solidFill>
                <a:latin typeface="Open Sans"/>
              </a:rPr>
              <a:t>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Notebooks Windows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F0EDE6"/>
                </a:solidFill>
                <a:latin typeface="Open Sans"/>
              </a:rPr>
              <a:t>▸  iMac, Mac Mini, PC Gamer</a:t>
            </a:r>
          </a:p>
          <a:p>
            <a:pPr>
              <a:spcBef>
                <a:spcPts val="500"/>
              </a:spcBef>
            </a:pPr>
            <a:endParaRPr sz="1200" dirty="0">
              <a:solidFill>
                <a:srgbClr val="F0EDE6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Gestão Inteligente de TI para Empresas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6"/>
                </a:solidFill>
                <a:latin typeface="Open Sans"/>
              </a:rPr>
              <a:t>Nossa plataforma de IA cuida do seu parque tecnológico antes de você perceber o problema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950720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950720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" y="2157984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157984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24h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2097024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Help Desk Automatizado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2633472"/>
            <a:ext cx="402336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Primeiro nível de suporte sem espera. 60% dos chamados resolvidos automaticamente.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960" y="1950720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56960" y="1950720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2032" y="2157984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2032" y="2157984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PRD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9856" y="2097024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Monitoramento Preditivo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9856" y="2633472"/>
            <a:ext cx="402336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Detecta falhas antes de virarem parada — ação preventiva automatizada.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998976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3998976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" y="4206240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206240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414528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Diagnóstico Remoto com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4681728"/>
            <a:ext cx="402336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Análise instantânea de qualquer dispositivo da frota corporativa.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6960" y="3998976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56960" y="3998976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2032" y="4206240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2032" y="4206240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REL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9856" y="414528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6"/>
                </a:solidFill>
                <a:latin typeface="Open Sans"/>
              </a:rPr>
              <a:t>Relatórios Automáticos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9856" y="4681728"/>
            <a:ext cx="402336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Saúde do seu parque tecnológico sempre visível, sem esforço manual.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6193536"/>
            <a:ext cx="10972800" cy="5852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193536"/>
            <a:ext cx="1072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Open Sans"/>
              </a:rPr>
              <a:t>⚡  80% dos chamados resolvidos antes de virar parada de produção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Automação Inteligente de Processos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6"/>
                </a:solidFill>
                <a:latin typeface="Open Sans"/>
              </a:rPr>
              <a:t>Workflows que trabalham por você — 24h, 7 dias, sem erros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93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93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266" y="209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6266" y="209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SQD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2932" y="206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Multi-Agent Squads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66" y="259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Times autônomos por departamento: atendimento, vendas, financeiro, TI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9600" y="193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9600" y="193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76266" y="209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6266" y="209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N8N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2932" y="206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Workflows n8n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266" y="259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Integração de sistemas + automação de processos em horas, não semanas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600" y="193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29600" y="193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6266" y="209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36266" y="209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24H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2932" y="206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Help Desk IA 24/7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6266" y="259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60% dos chamados resolvidos automaticamente. Resposta: 23 segundos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69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" y="369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6266" y="385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6266" y="385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VND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2932" y="382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Agente de Vendas 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266" y="435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Prospecta e qualifica leads 24/7. Ciclo de vendas 40% mais rápido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69600" y="369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69600" y="369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76266" y="385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76266" y="385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DOC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2932" y="382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Processamento de Documentos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6266" y="435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NF-e, contratos e laudos processados em segundos com 99,5% de precisão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9600" y="3693333"/>
            <a:ext cx="3600000" cy="16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29600" y="3693333"/>
            <a:ext cx="3600000" cy="6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36266" y="3853333"/>
            <a:ext cx="506666" cy="373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36266" y="3853333"/>
            <a:ext cx="506666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  <a:latin typeface="Open Sans"/>
              </a:rPr>
              <a:t>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2932" y="3826666"/>
            <a:ext cx="2826668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BI e Relatórios Automáticos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6266" y="4359999"/>
            <a:ext cx="338666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8A0"/>
                </a:solidFill>
                <a:latin typeface="Open Sans"/>
              </a:rPr>
              <a:t>Insights em linguagem natural para sua liderança, sem depender de analistas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6324667"/>
            <a:ext cx="10972800" cy="42666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6351334"/>
            <a:ext cx="10728960" cy="37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9A84C"/>
                </a:solidFill>
                <a:latin typeface="Open Sans"/>
              </a:rPr>
              <a:t>200h/mês economizadas com um único workflow — imagine o resultado de uma suite completa.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0208" y="5260848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75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Open Sans"/>
              </a:rPr>
              <a:t>DevOps Inteligente e Qualidade Automatizada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79863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6"/>
                </a:solidFill>
                <a:latin typeface="Open Sans"/>
              </a:rPr>
              <a:t>Código mais seguro. Deploy mais rápido. QA sem gargalo humano.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893333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893333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600" y="2053333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600" y="2053333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266" y="2026666"/>
            <a:ext cx="4042560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CI/CD com IA (GitHub Actions)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00" y="2639999"/>
            <a:ext cx="4858560" cy="9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Agentes revisam código e bloqueiam bugs antes do merge. 3,5h salvas por PR.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5493" y="1893333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5493" y="1893333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7493" y="2053333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7493" y="2053333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2159" y="2026666"/>
            <a:ext cx="4042560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QA Automatizado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7493" y="2639999"/>
            <a:ext cx="4858560" cy="9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Time de QA com IA que escreve e executa testes continuamente. 700+ testes.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855466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3855466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1600" y="4015466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600" y="4015466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REV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266" y="3988799"/>
            <a:ext cx="4042560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Code Review &amp; Tech Debt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600" y="4602132"/>
            <a:ext cx="4858560" cy="9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Análise de cada PR com detecção de débito técnico e sugestões em escala.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5493" y="3855466"/>
            <a:ext cx="5242560" cy="18288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5493" y="3855466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7493" y="4015466"/>
            <a:ext cx="75590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7493" y="4015466"/>
            <a:ext cx="755904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2159" y="3988799"/>
            <a:ext cx="4042560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Open Sans"/>
              </a:rPr>
              <a:t>Segurança &amp; Compliance 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7493" y="4602132"/>
            <a:ext cx="4858560" cy="9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LGPD / ISO 27001 automatizado. Monitoramento 24/7. ROI de 526% em 3 anos.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6218000"/>
            <a:ext cx="5242560" cy="50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9600" y="6218000"/>
            <a:ext cx="5242560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80% menos tempo em QA manual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5493" y="6218000"/>
            <a:ext cx="5242560" cy="50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5493" y="6218000"/>
            <a:ext cx="5242560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  <a:latin typeface="Open Sans"/>
              </a:rPr>
              <a:t>Deploy com confiança, todo 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2764" y="558055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599" y="390144"/>
            <a:ext cx="11120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dirty="0">
                <a:solidFill>
                  <a:srgbClr val="C9A84C"/>
                </a:solidFill>
                <a:latin typeface="Open Sans"/>
              </a:rPr>
              <a:t> </a:t>
            </a:r>
            <a:r>
              <a:rPr lang="pt-BR" sz="2550" b="1" i="0" dirty="0">
                <a:solidFill>
                  <a:srgbClr val="C9A84C"/>
                </a:solidFill>
                <a:latin typeface="Open Sans"/>
              </a:rPr>
              <a:t>Uma agência de IA dedicada, totalmente integrada à sua operação</a:t>
            </a:r>
            <a:endParaRPr sz="2550" b="1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6"/>
                </a:solidFill>
                <a:latin typeface="Open Sans"/>
              </a:rPr>
              <a:t>Instalamos um servidor completo de IA na sua infraestrutura. Seus dados nunca saem daqui.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893333"/>
            <a:ext cx="5242560" cy="44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1893333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000" y="2000000"/>
            <a:ext cx="4975894" cy="4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Open Sans"/>
              </a:rPr>
              <a:t>O Que Instalamos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2533333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Múltiplos modelos LLM locais (Llama, Mistral, DeepSeek)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3266666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Multi-Agent Squads configurados por departamento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3999999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Base de conhecimento RAG com seus documentos internos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4733332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Automações n8n integradas aos seus sistemas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" y="5466665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Dashboard de monitoramento e controle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5493" y="1893333"/>
            <a:ext cx="5242560" cy="4400000"/>
          </a:xfrm>
          <a:prstGeom prst="rect">
            <a:avLst/>
          </a:prstGeom>
          <a:solidFill>
            <a:srgbClr val="1212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5493" y="1893333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7493" y="2000000"/>
            <a:ext cx="4975894" cy="42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Open Sans"/>
              </a:rPr>
              <a:t>Por Que Faz Diferença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7493" y="2533333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100% LGPD-compliant — dados nunca saem da rede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7493" y="3266666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80-90% mais barato que APIs de nuvem em alto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7493" y="3999999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Resposta mais rápida — sem latência de 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7493" y="4733332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IA customizada para seu setor e linguagem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7493" y="5466665"/>
            <a:ext cx="4975894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✓  Você controla modelos, dados, acessos e custos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62667" y="6031334"/>
            <a:ext cx="6666666" cy="5866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62667" y="6031334"/>
            <a:ext cx="6666666" cy="58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Open Sans"/>
              </a:rPr>
              <a:t>Você é dono do stack. Você controla tudo.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671334"/>
            <a:ext cx="109728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AAA8A0"/>
                </a:solidFill>
                <a:latin typeface="Open Sans"/>
              </a:rPr>
              <a:t>$0,87/h on-premise vs $98/h cloud GPU  |  67% das enterprises </a:t>
            </a:r>
            <a:r>
              <a:rPr sz="1000" b="0" i="1" dirty="0" err="1">
                <a:solidFill>
                  <a:srgbClr val="AAA8A0"/>
                </a:solidFill>
                <a:latin typeface="Open Sans"/>
              </a:rPr>
              <a:t>já</a:t>
            </a:r>
            <a:r>
              <a:rPr sz="1000" b="0" i="1" dirty="0">
                <a:solidFill>
                  <a:srgbClr val="AAA8A0"/>
                </a:solidFill>
                <a:latin typeface="Open Sans"/>
              </a:rPr>
              <a:t> </a:t>
            </a:r>
            <a:r>
              <a:rPr sz="1000" b="0" i="1" dirty="0" err="1">
                <a:solidFill>
                  <a:srgbClr val="AAA8A0"/>
                </a:solidFill>
                <a:latin typeface="Open Sans"/>
              </a:rPr>
              <a:t>migraram</a:t>
            </a:r>
            <a:r>
              <a:rPr sz="1000" b="0" i="1" dirty="0">
                <a:solidFill>
                  <a:srgbClr val="AAA8A0"/>
                </a:solidFill>
                <a:latin typeface="Open Sans"/>
              </a:rPr>
              <a:t> para IA </a:t>
            </a:r>
            <a:r>
              <a:rPr sz="1000" b="0" i="1" dirty="0" err="1">
                <a:solidFill>
                  <a:srgbClr val="AAA8A0"/>
                </a:solidFill>
                <a:latin typeface="Open Sans"/>
              </a:rPr>
              <a:t>privada</a:t>
            </a:r>
            <a:endParaRPr sz="1000" b="0" i="1" dirty="0">
              <a:solidFill>
                <a:srgbClr val="AAA8A0"/>
              </a:solidFill>
              <a:latin typeface="Open Sans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0DA5B568-D062-C987-22A9-0B5BED9FE26F}"/>
              </a:ext>
            </a:extLst>
          </p:cNvPr>
          <p:cNvSpPr/>
          <p:nvPr/>
        </p:nvSpPr>
        <p:spPr>
          <a:xfrm>
            <a:off x="909083" y="6373301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C9A84C"/>
                </a:solidFill>
                <a:latin typeface="Open Sans"/>
              </a:rPr>
              <a:t>Por </a:t>
            </a:r>
            <a:r>
              <a:rPr lang="pt-BR" sz="2800" b="1" i="0" dirty="0">
                <a:solidFill>
                  <a:srgbClr val="C9A84C"/>
                </a:solidFill>
                <a:latin typeface="Open Sans"/>
              </a:rPr>
              <a:t>q</a:t>
            </a:r>
            <a:r>
              <a:rPr sz="2800" b="1" i="0" dirty="0" err="1">
                <a:solidFill>
                  <a:srgbClr val="C9A84C"/>
                </a:solidFill>
                <a:latin typeface="Open Sans"/>
              </a:rPr>
              <a:t>ue</a:t>
            </a:r>
            <a:r>
              <a:rPr sz="2800" b="1" i="0" dirty="0">
                <a:solidFill>
                  <a:srgbClr val="C9A84C"/>
                </a:solidFill>
                <a:latin typeface="Open Sans"/>
              </a:rPr>
              <a:t> a B&amp;M Smart TECH para Empresas?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1365504"/>
            <a:ext cx="3072384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266" y="1498837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Open Sans"/>
              </a:rPr>
              <a:t>Critério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1984" y="1365504"/>
            <a:ext cx="3291840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88650" y="1498837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Open Sans"/>
              </a:rPr>
              <a:t>Assistência Comum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3824" y="1365504"/>
            <a:ext cx="4608576" cy="7071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0490" y="1498837"/>
            <a:ext cx="4448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A0A0F"/>
                </a:solidFill>
                <a:latin typeface="Open Sans"/>
              </a:rPr>
              <a:t>B&amp;M Smart TECH</a:t>
            </a:r>
            <a:r>
              <a:rPr lang="pt-BR" sz="1200" b="1" i="0" dirty="0">
                <a:solidFill>
                  <a:srgbClr val="0A0A0F"/>
                </a:solidFill>
                <a:latin typeface="Open Sans"/>
              </a:rPr>
              <a:t> </a:t>
            </a:r>
            <a:endParaRPr sz="1200" b="1" i="0" dirty="0">
              <a:solidFill>
                <a:srgbClr val="0A0A0F"/>
              </a:solidFill>
              <a:latin typeface="Open Sa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9600" y="2072640"/>
            <a:ext cx="3072384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6266" y="2205973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Tempo de Resposta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1984" y="2072640"/>
            <a:ext cx="3291840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8650" y="2205973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24–48 horas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3824" y="2072640"/>
            <a:ext cx="4608576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59168" y="2205973"/>
            <a:ext cx="4448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Mesmo dia / Agendado</a:t>
            </a:r>
            <a:endParaRPr sz="1200" b="0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9600" y="2779776"/>
            <a:ext cx="3072384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266" y="2913109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Cobertura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1984" y="2779776"/>
            <a:ext cx="3291840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88650" y="2913109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Apenas walk-in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3824" y="2779776"/>
            <a:ext cx="4608576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9168" y="2913109"/>
            <a:ext cx="4448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Leva-e-traz incluso</a:t>
            </a:r>
            <a:endParaRPr sz="1200" b="0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9600" y="3486912"/>
            <a:ext cx="3072384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6266" y="3620245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Relatórios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1984" y="3486912"/>
            <a:ext cx="3291840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88650" y="3620245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Nenhum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73824" y="3486912"/>
            <a:ext cx="4608576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59168" y="3620245"/>
            <a:ext cx="4448576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Relatório técnico incluso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4194048"/>
            <a:ext cx="3072384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6266" y="4327381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F0EDE6"/>
                </a:solidFill>
                <a:latin typeface="Open Sans"/>
              </a:rPr>
              <a:t>Suporte</a:t>
            </a:r>
            <a:r>
              <a:rPr sz="1200" b="0" i="0" dirty="0">
                <a:solidFill>
                  <a:srgbClr val="F0EDE6"/>
                </a:solidFill>
                <a:latin typeface="Open Sans"/>
              </a:rPr>
              <a:t> com 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1984" y="4194048"/>
            <a:ext cx="3291840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88650" y="4327381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Não disponível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73824" y="4194048"/>
            <a:ext cx="4608576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59168" y="4327381"/>
            <a:ext cx="4448576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Monitoramento preditivo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4901184"/>
            <a:ext cx="3072384" cy="675874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6266" y="5034517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Peças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1984" y="4901184"/>
            <a:ext cx="3291840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88650" y="5034517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Genéricas / alternativas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73824" y="4901184"/>
            <a:ext cx="4608576" cy="707136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59168" y="5034517"/>
            <a:ext cx="4448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Homologadas e prime</a:t>
            </a:r>
            <a:endParaRPr sz="1200" b="0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9600" y="5608320"/>
            <a:ext cx="3072384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6266" y="5741653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DE6"/>
                </a:solidFill>
                <a:latin typeface="Open Sans"/>
              </a:rPr>
              <a:t>Garantia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81984" y="5608320"/>
            <a:ext cx="3291840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88650" y="5741653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30 dias ou sem garantia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73824" y="5608320"/>
            <a:ext cx="4608576" cy="707136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59168" y="5741653"/>
            <a:ext cx="4448576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90 dias formais</a:t>
            </a:r>
            <a:endParaRPr sz="1200" b="0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09600" y="6315456"/>
            <a:ext cx="3072384" cy="542541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6266" y="6448789"/>
            <a:ext cx="2912384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EDE6"/>
                </a:solidFill>
                <a:latin typeface="Open Sans"/>
              </a:rPr>
              <a:t>LGPD / </a:t>
            </a:r>
            <a:r>
              <a:rPr sz="1200" b="0" i="0" dirty="0" err="1">
                <a:solidFill>
                  <a:srgbClr val="F0EDE6"/>
                </a:solidFill>
                <a:latin typeface="Open Sans"/>
              </a:rPr>
              <a:t>Segurança</a:t>
            </a:r>
            <a:endParaRPr sz="1200" b="0" i="0" dirty="0">
              <a:solidFill>
                <a:srgbClr val="F0EDE6"/>
              </a:solidFill>
              <a:latin typeface="Open San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681984" y="6315456"/>
            <a:ext cx="3291840" cy="542541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88650" y="6422122"/>
            <a:ext cx="3131840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8A0"/>
                </a:solidFill>
                <a:latin typeface="Open Sans"/>
              </a:rPr>
              <a:t>Não se aplica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3824" y="6315456"/>
            <a:ext cx="4608576" cy="542541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59168" y="6448789"/>
            <a:ext cx="4448576" cy="6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Open Sans"/>
              </a:rPr>
              <a:t>✓  </a:t>
            </a:r>
            <a:r>
              <a:rPr sz="1200" b="0">
                <a:solidFill>
                  <a:srgbClr val="C9A84C"/>
                </a:solidFill>
                <a:latin typeface="Open Sans"/>
              </a:rPr>
              <a:t>Infraestrutura certificada</a:t>
            </a:r>
            <a:endParaRPr sz="1200" b="0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A537A0E-C524-8E90-ABB7-598F694C5D7E}"/>
              </a:ext>
            </a:extLst>
          </p:cNvPr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A695A51-B5C6-9397-954B-73A8E7A7FAA5}"/>
              </a:ext>
            </a:extLst>
          </p:cNvPr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5913120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5303520"/>
            <a:ext cx="0" cy="609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2416" y="5858256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94720" y="341376"/>
            <a:ext cx="914400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09120" y="341376"/>
            <a:ext cx="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39014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C9A84C"/>
                </a:solidFill>
                <a:latin typeface="Open Sans"/>
              </a:rPr>
              <a:t>Clientes</a:t>
            </a:r>
            <a:r>
              <a:rPr sz="2800" b="1" i="0" dirty="0">
                <a:solidFill>
                  <a:srgbClr val="C9A84C"/>
                </a:solidFill>
                <a:latin typeface="Open Sans"/>
              </a:rPr>
              <a:t> </a:t>
            </a:r>
            <a:r>
              <a:rPr sz="2800" b="1" i="0" dirty="0" err="1">
                <a:solidFill>
                  <a:srgbClr val="C9A84C"/>
                </a:solidFill>
                <a:latin typeface="Open Sans"/>
              </a:rPr>
              <a:t>que</a:t>
            </a:r>
            <a:r>
              <a:rPr sz="2800" b="1" i="0" dirty="0">
                <a:solidFill>
                  <a:srgbClr val="C9A84C"/>
                </a:solidFill>
                <a:latin typeface="Open Sans"/>
              </a:rPr>
              <a:t> </a:t>
            </a:r>
            <a:r>
              <a:rPr lang="pt-BR" sz="2800" b="1" dirty="0">
                <a:solidFill>
                  <a:srgbClr val="C9A84C"/>
                </a:solidFill>
                <a:latin typeface="Open Sans"/>
              </a:rPr>
              <a:t>c</a:t>
            </a:r>
            <a:r>
              <a:rPr sz="2800" b="1" i="0" dirty="0" err="1">
                <a:solidFill>
                  <a:srgbClr val="C9A84C"/>
                </a:solidFill>
                <a:latin typeface="Open Sans"/>
              </a:rPr>
              <a:t>onfiam</a:t>
            </a:r>
            <a:r>
              <a:rPr sz="2800" b="1" i="0" dirty="0">
                <a:solidFill>
                  <a:srgbClr val="C9A84C"/>
                </a:solidFill>
                <a:latin typeface="Open Sans"/>
              </a:rPr>
              <a:t> </a:t>
            </a:r>
            <a:r>
              <a:rPr sz="2800" b="1" i="0" dirty="0" err="1">
                <a:solidFill>
                  <a:srgbClr val="C9A84C"/>
                </a:solidFill>
                <a:latin typeface="Open Sans"/>
              </a:rPr>
              <a:t>em</a:t>
            </a:r>
            <a:r>
              <a:rPr sz="2800" b="1" i="0" dirty="0">
                <a:solidFill>
                  <a:srgbClr val="C9A84C"/>
                </a:solidFill>
                <a:latin typeface="Open Sans"/>
              </a:rPr>
              <a:t> </a:t>
            </a:r>
            <a:r>
              <a:rPr sz="2800" b="1" i="0" dirty="0" err="1">
                <a:solidFill>
                  <a:srgbClr val="C9A84C"/>
                </a:solidFill>
                <a:latin typeface="Open Sans"/>
              </a:rPr>
              <a:t>Nós</a:t>
            </a:r>
            <a:endParaRPr sz="2800" b="1" i="0" dirty="0">
              <a:solidFill>
                <a:srgbClr val="C9A84C"/>
              </a:solidFill>
              <a:latin typeface="Open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1243584"/>
            <a:ext cx="10972800" cy="42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6"/>
                </a:solidFill>
                <a:latin typeface="Open Sans"/>
              </a:rPr>
              <a:t>Empresas de todos os portes em Alphaville e região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901952"/>
            <a:ext cx="5242560" cy="2292096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5360" y="2145792"/>
            <a:ext cx="4511040" cy="114604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9_Image 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994" y="2244546"/>
            <a:ext cx="899769" cy="8997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9600" y="3462528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933" y="3554048"/>
            <a:ext cx="4975894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EDE6"/>
                </a:solidFill>
                <a:latin typeface="Open Sans"/>
              </a:rPr>
              <a:t>EPSON Brasil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1901952"/>
            <a:ext cx="5242560" cy="2292096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61760" y="2145792"/>
            <a:ext cx="4511040" cy="114604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lide9_Imag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784" y="2244546"/>
            <a:ext cx="2674990" cy="89976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096000" y="3462528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9333" y="3554048"/>
            <a:ext cx="4975894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EDE6"/>
                </a:solidFill>
                <a:latin typeface="Open Sans"/>
              </a:rPr>
              <a:t>Ákua Cosméticos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13504"/>
            <a:ext cx="5242560" cy="2292096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5360" y="4657344"/>
            <a:ext cx="4511040" cy="114604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lide9_Image 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353" y="4765620"/>
            <a:ext cx="3699053" cy="88072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09600" y="5974080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933" y="6065600"/>
            <a:ext cx="4975894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EDE6"/>
                </a:solidFill>
                <a:latin typeface="Open Sans"/>
              </a:rPr>
              <a:t>Opersan Soluções Ambientais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0" y="4413504"/>
            <a:ext cx="5242560" cy="2292096"/>
          </a:xfrm>
          <a:prstGeom prst="rect">
            <a:avLst/>
          </a:prstGeom>
          <a:solidFill>
            <a:srgbClr val="1212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61760" y="4657344"/>
            <a:ext cx="4511040" cy="114604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lide9_Image 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741" y="4756098"/>
            <a:ext cx="3599078" cy="89976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096000" y="5974080"/>
            <a:ext cx="5242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29333" y="6065600"/>
            <a:ext cx="4975894" cy="5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EDE6"/>
                </a:solidFill>
                <a:latin typeface="Open Sans"/>
              </a:rPr>
              <a:t>Indústria Gráfica Brasileira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94464" y="0"/>
            <a:ext cx="9753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72544" y="6736080"/>
            <a:ext cx="121920" cy="121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C9A84C"/>
                </a:solidFill>
                <a:latin typeface="Open Sans"/>
              </a:rPr>
              <a:t>Vamos </a:t>
            </a:r>
            <a:r>
              <a:rPr lang="pt-BR" sz="3200" b="1" i="0" dirty="0">
                <a:solidFill>
                  <a:srgbClr val="C9A84C"/>
                </a:solidFill>
                <a:latin typeface="Open Sans"/>
              </a:rPr>
              <a:t>C</a:t>
            </a:r>
            <a:r>
              <a:rPr sz="3200" b="1" i="0" dirty="0" err="1">
                <a:solidFill>
                  <a:srgbClr val="C9A84C"/>
                </a:solidFill>
                <a:latin typeface="Open Sans"/>
              </a:rPr>
              <a:t>onversar</a:t>
            </a:r>
            <a:r>
              <a:rPr sz="3200" b="1" i="0" dirty="0">
                <a:solidFill>
                  <a:srgbClr val="C9A84C"/>
                </a:solidFill>
                <a:latin typeface="Open San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19200"/>
            <a:ext cx="792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6"/>
                </a:solidFill>
                <a:latin typeface="Open Sans"/>
              </a:rPr>
              <a:t>Solicite uma avaliação gratuita do seu parque de dispositivos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3184"/>
            <a:ext cx="6705600" cy="487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5378" y="2109216"/>
            <a:ext cx="877824" cy="45066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378" y="2164818"/>
            <a:ext cx="877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A0A0F"/>
                </a:solidFill>
                <a:latin typeface="Open Sans"/>
              </a:rPr>
              <a:t>Telefone</a:t>
            </a:r>
            <a:endParaRPr sz="1200" b="1" i="0" dirty="0">
              <a:solidFill>
                <a:srgbClr val="0A0A0F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60576" y="2109216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EDE6"/>
                </a:solidFill>
                <a:latin typeface="Open Sans"/>
              </a:rPr>
              <a:t>(11) 96</a:t>
            </a:r>
            <a:r>
              <a:rPr lang="pt-BR" sz="1300" b="0" i="0" dirty="0">
                <a:solidFill>
                  <a:srgbClr val="F0EDE6"/>
                </a:solidFill>
                <a:latin typeface="Open Sans"/>
              </a:rPr>
              <a:t>381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-1921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378" y="2889944"/>
            <a:ext cx="877824" cy="45066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378" y="2974679"/>
            <a:ext cx="877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A0A0F"/>
                </a:solidFill>
                <a:latin typeface="Open Sans"/>
              </a:rPr>
              <a:t>E</a:t>
            </a:r>
            <a:r>
              <a:rPr lang="pt-BR" sz="1200" b="1" i="0" dirty="0">
                <a:solidFill>
                  <a:srgbClr val="0A0A0F"/>
                </a:solidFill>
                <a:latin typeface="Open Sans"/>
              </a:rPr>
              <a:t>-</a:t>
            </a:r>
            <a:r>
              <a:rPr sz="1200" b="1" i="0" dirty="0">
                <a:solidFill>
                  <a:srgbClr val="0A0A0F"/>
                </a:solidFill>
                <a:latin typeface="Open Sans"/>
              </a:rPr>
              <a:t>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0576" y="2901696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0EDE6"/>
                </a:solidFill>
                <a:latin typeface="Open Sans"/>
              </a:rPr>
              <a:t>conta</a:t>
            </a:r>
            <a:r>
              <a:rPr lang="pt-BR" sz="1300" b="0" i="0" dirty="0" err="1">
                <a:solidFill>
                  <a:srgbClr val="F0EDE6"/>
                </a:solidFill>
                <a:latin typeface="Open Sans"/>
              </a:rPr>
              <a:t>to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@</a:t>
            </a:r>
            <a:r>
              <a:rPr lang="pt-BR" sz="1300" b="0" i="0" dirty="0" err="1">
                <a:solidFill>
                  <a:srgbClr val="F0EDE6"/>
                </a:solidFill>
                <a:latin typeface="Open Sans"/>
              </a:rPr>
              <a:t>bwlmtecnologia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.com.br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378" y="3670673"/>
            <a:ext cx="87782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725" y="3763821"/>
            <a:ext cx="977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A0A0F"/>
                </a:solidFill>
                <a:latin typeface="Open Sans"/>
              </a:rPr>
              <a:t>Insta</a:t>
            </a:r>
            <a:r>
              <a:rPr lang="pt-BR" sz="1200" b="1" i="0" dirty="0" err="1">
                <a:solidFill>
                  <a:srgbClr val="0A0A0F"/>
                </a:solidFill>
                <a:latin typeface="Open Sans"/>
              </a:rPr>
              <a:t>gram</a:t>
            </a:r>
            <a:endParaRPr sz="1200" b="1" i="0" dirty="0">
              <a:solidFill>
                <a:srgbClr val="0A0A0F"/>
              </a:solidFill>
              <a:latin typeface="Open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60576" y="3767451"/>
            <a:ext cx="6096000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EDE6"/>
                </a:solidFill>
                <a:latin typeface="Open Sans"/>
              </a:rPr>
              <a:t>@bmsmarttech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378" y="4474369"/>
            <a:ext cx="877824" cy="4632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725" y="4568634"/>
            <a:ext cx="964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A0A0F"/>
                </a:solidFill>
                <a:latin typeface="Open Sans"/>
              </a:rPr>
              <a:t>End</a:t>
            </a:r>
            <a:r>
              <a:rPr lang="pt-BR" sz="1200" b="1" i="0" dirty="0" err="1">
                <a:solidFill>
                  <a:srgbClr val="0A0A0F"/>
                </a:solidFill>
                <a:latin typeface="Open Sans"/>
              </a:rPr>
              <a:t>ereço</a:t>
            </a:r>
            <a:endParaRPr sz="1200" b="1" i="0" dirty="0">
              <a:solidFill>
                <a:srgbClr val="0A0A0F"/>
              </a:solidFill>
              <a:latin typeface="Open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60576" y="4486656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EDE6"/>
                </a:solidFill>
                <a:latin typeface="Open Sans"/>
              </a:rPr>
              <a:t>P</a:t>
            </a:r>
            <a:r>
              <a:rPr lang="pt-BR" sz="1300" b="0" i="0" dirty="0">
                <a:solidFill>
                  <a:srgbClr val="F0EDE6"/>
                </a:solidFill>
                <a:latin typeface="Open Sans"/>
              </a:rPr>
              <a:t>raça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 das Pa</a:t>
            </a:r>
            <a:r>
              <a:rPr lang="pt-BR" sz="1300" b="0" i="0" dirty="0">
                <a:solidFill>
                  <a:srgbClr val="F0EDE6"/>
                </a:solidFill>
                <a:latin typeface="Open Sans"/>
              </a:rPr>
              <a:t>i</a:t>
            </a:r>
            <a:r>
              <a:rPr lang="pt-BR" sz="1300" dirty="0">
                <a:solidFill>
                  <a:srgbClr val="F0EDE6"/>
                </a:solidFill>
                <a:latin typeface="Open Sans"/>
              </a:rPr>
              <a:t>n</a:t>
            </a:r>
            <a:r>
              <a:rPr sz="1300" b="0" i="0" dirty="0" err="1">
                <a:solidFill>
                  <a:srgbClr val="F0EDE6"/>
                </a:solidFill>
                <a:latin typeface="Open Sans"/>
              </a:rPr>
              <a:t>eiras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, </a:t>
            </a:r>
            <a:r>
              <a:rPr lang="pt-BR" sz="1300" dirty="0">
                <a:solidFill>
                  <a:srgbClr val="F0EDE6"/>
                </a:solidFill>
                <a:latin typeface="Open Sans"/>
              </a:rPr>
              <a:t>66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, Sala </a:t>
            </a:r>
            <a:r>
              <a:rPr lang="pt-BR" sz="1300" dirty="0">
                <a:solidFill>
                  <a:srgbClr val="F0EDE6"/>
                </a:solidFill>
                <a:latin typeface="Open Sans"/>
              </a:rPr>
              <a:t>B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,</a:t>
            </a:r>
            <a:r>
              <a:rPr lang="pt-BR" sz="1300" b="0" i="0" dirty="0">
                <a:solidFill>
                  <a:srgbClr val="F0EDE6"/>
                </a:solidFill>
                <a:latin typeface="Open Sans"/>
              </a:rPr>
              <a:t> Centro Comercial de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 Alphaville, </a:t>
            </a:r>
            <a:r>
              <a:rPr sz="1300" b="0" i="0" dirty="0" err="1">
                <a:solidFill>
                  <a:srgbClr val="F0EDE6"/>
                </a:solidFill>
                <a:latin typeface="Open Sans"/>
              </a:rPr>
              <a:t>Barueri</a:t>
            </a:r>
            <a:r>
              <a:rPr sz="1300" b="0" i="0" dirty="0">
                <a:solidFill>
                  <a:srgbClr val="F0EDE6"/>
                </a:solidFill>
                <a:latin typeface="Open Sans"/>
              </a:rPr>
              <a:t>/SP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096000"/>
            <a:ext cx="2961476" cy="5852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3458" y="6219331"/>
            <a:ext cx="3335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A0A0F"/>
                </a:solidFill>
                <a:latin typeface="Open Sans"/>
              </a:rPr>
              <a:t>Fale </a:t>
            </a:r>
            <a:r>
              <a:rPr sz="1600" b="1" i="0" dirty="0" err="1">
                <a:solidFill>
                  <a:srgbClr val="0A0A0F"/>
                </a:solidFill>
                <a:latin typeface="Open Sans"/>
              </a:rPr>
              <a:t>conosco</a:t>
            </a:r>
            <a:r>
              <a:rPr sz="1600" b="1" i="0" dirty="0">
                <a:solidFill>
                  <a:srgbClr val="0A0A0F"/>
                </a:solidFill>
                <a:latin typeface="Open Sans"/>
              </a:rPr>
              <a:t> agora</a:t>
            </a:r>
          </a:p>
        </p:txBody>
      </p:sp>
      <p:pic>
        <p:nvPicPr>
          <p:cNvPr id="23" name="Picture 22" descr="slide1_Image 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39" y="1668730"/>
            <a:ext cx="2908088" cy="2844670"/>
          </a:xfrm>
          <a:prstGeom prst="rect">
            <a:avLst/>
          </a:prstGeom>
        </p:spPr>
      </p:pic>
      <p:sp>
        <p:nvSpPr>
          <p:cNvPr id="24" name="Rectangle 7">
            <a:extLst>
              <a:ext uri="{FF2B5EF4-FFF2-40B4-BE49-F238E27FC236}">
                <a16:creationId xmlns:a16="http://schemas.microsoft.com/office/drawing/2014/main" id="{9E9F6FB6-B6E9-7A6C-6C91-CE4F7B63CF9A}"/>
              </a:ext>
            </a:extLst>
          </p:cNvPr>
          <p:cNvSpPr/>
          <p:nvPr/>
        </p:nvSpPr>
        <p:spPr>
          <a:xfrm>
            <a:off x="11052048" y="298704"/>
            <a:ext cx="85344" cy="853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A8214095-D7E1-FB57-2281-E517474C2010}"/>
              </a:ext>
            </a:extLst>
          </p:cNvPr>
          <p:cNvSpPr/>
          <p:nvPr/>
        </p:nvSpPr>
        <p:spPr>
          <a:xfrm>
            <a:off x="11954256" y="835152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1271</Words>
  <Application>Microsoft Office PowerPoint</Application>
  <PresentationFormat>Widescreen</PresentationFormat>
  <Paragraphs>205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Benhur Hilton</cp:lastModifiedBy>
  <cp:revision>5</cp:revision>
  <cp:lastPrinted>2026-04-06T18:46:21Z</cp:lastPrinted>
  <dcterms:created xsi:type="dcterms:W3CDTF">2013-01-27T09:14:16Z</dcterms:created>
  <dcterms:modified xsi:type="dcterms:W3CDTF">2026-05-09T14:07:15Z</dcterms:modified>
  <cp:category/>
</cp:coreProperties>
</file>